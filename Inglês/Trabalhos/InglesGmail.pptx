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5"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7719" autoAdjust="0"/>
  </p:normalViewPr>
  <p:slideViewPr>
    <p:cSldViewPr snapToGrid="0">
      <p:cViewPr varScale="1">
        <p:scale>
          <a:sx n="100" d="100"/>
          <a:sy n="100" d="100"/>
        </p:scale>
        <p:origin x="9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E6429F-C034-46E7-A1E6-35379DB99051}" type="datetimeFigureOut">
              <a:rPr lang="pt-BR" smtClean="0"/>
              <a:t>05/04/2021</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EEB12-B63C-4103-907A-B380091F3CC6}" type="slidenum">
              <a:rPr lang="pt-BR" smtClean="0"/>
              <a:t>‹nº›</a:t>
            </a:fld>
            <a:endParaRPr lang="pt-BR"/>
          </a:p>
        </p:txBody>
      </p:sp>
    </p:spTree>
    <p:extLst>
      <p:ext uri="{BB962C8B-B14F-4D97-AF65-F5344CB8AC3E}">
        <p14:creationId xmlns:p14="http://schemas.microsoft.com/office/powerpoint/2010/main" val="759236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Rafael</a:t>
            </a:r>
          </a:p>
          <a:p>
            <a:r>
              <a:rPr lang="pt-BR" dirty="0"/>
              <a:t>Bom dia, hoje vamos apresentar algumas opções não muito conhecidas que podem aumentar sua produtividade drasticamente no Gmail.</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1</a:t>
            </a:fld>
            <a:endParaRPr lang="pt-BR"/>
          </a:p>
        </p:txBody>
      </p:sp>
    </p:spTree>
    <p:extLst>
      <p:ext uri="{BB962C8B-B14F-4D97-AF65-F5344CB8AC3E}">
        <p14:creationId xmlns:p14="http://schemas.microsoft.com/office/powerpoint/2010/main" val="1617075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Rafael</a:t>
            </a:r>
          </a:p>
          <a:p>
            <a:r>
              <a:rPr lang="pt-BR" dirty="0"/>
              <a:t>A opção “Responder a todos" pode ser utilizada quando uma corrente é criada e você precisa mandar o mesmo e-mail pra várias pessoas. Assim, você pode responder a várias pessoas ao mesmo tempo sem ter que escrever vários e-mails.</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2</a:t>
            </a:fld>
            <a:endParaRPr lang="pt-BR"/>
          </a:p>
        </p:txBody>
      </p:sp>
    </p:spTree>
    <p:extLst>
      <p:ext uri="{BB962C8B-B14F-4D97-AF65-F5344CB8AC3E}">
        <p14:creationId xmlns:p14="http://schemas.microsoft.com/office/powerpoint/2010/main" val="2888469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Caio</a:t>
            </a:r>
          </a:p>
          <a:p>
            <a:r>
              <a:rPr lang="pt-BR" dirty="0"/>
              <a:t>A opção “Tamanho máximo de página” limita quantos e-mails são carregados por página, caso você receba muitos por dia e queira se organizar melhor.</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3</a:t>
            </a:fld>
            <a:endParaRPr lang="pt-BR"/>
          </a:p>
        </p:txBody>
      </p:sp>
    </p:spTree>
    <p:extLst>
      <p:ext uri="{BB962C8B-B14F-4D97-AF65-F5344CB8AC3E}">
        <p14:creationId xmlns:p14="http://schemas.microsoft.com/office/powerpoint/2010/main" val="824314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Caio</a:t>
            </a:r>
          </a:p>
          <a:p>
            <a:r>
              <a:rPr lang="pt-BR" dirty="0"/>
              <a:t>“Visualização de Conversa” é uma dica útil se você prefere da estética do Gmail clássico. Com ela, você pode desativar as conversas visualizadas em sequência, conectadas por um fio – uma “thread” (se for difícil só pronuncia </a:t>
            </a:r>
            <a:r>
              <a:rPr lang="pt-BR" dirty="0" err="1"/>
              <a:t>tréde</a:t>
            </a:r>
            <a:r>
              <a:rPr lang="pt-BR" dirty="0"/>
              <a:t> mesmo).</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4</a:t>
            </a:fld>
            <a:endParaRPr lang="pt-BR"/>
          </a:p>
        </p:txBody>
      </p:sp>
    </p:spTree>
    <p:extLst>
      <p:ext uri="{BB962C8B-B14F-4D97-AF65-F5344CB8AC3E}">
        <p14:creationId xmlns:p14="http://schemas.microsoft.com/office/powerpoint/2010/main" val="463039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Diogo</a:t>
            </a:r>
          </a:p>
          <a:p>
            <a:r>
              <a:rPr lang="pt-BR" dirty="0"/>
              <a:t>Se seu trabalho ou escola depende dos seus e-mails, essa é uma ótima dica. Essa opção te permite receber uma notificação no desktop quando um novo e-mail chegar.</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5</a:t>
            </a:fld>
            <a:endParaRPr lang="pt-BR"/>
          </a:p>
        </p:txBody>
      </p:sp>
    </p:spTree>
    <p:extLst>
      <p:ext uri="{BB962C8B-B14F-4D97-AF65-F5344CB8AC3E}">
        <p14:creationId xmlns:p14="http://schemas.microsoft.com/office/powerpoint/2010/main" val="1063312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Diogo </a:t>
            </a:r>
          </a:p>
          <a:p>
            <a:r>
              <a:rPr lang="pt-BR" dirty="0"/>
              <a:t>Provavelmente uma das opções mais úteis, a pesquisa avançada te permite adicionar vários filtros específicos para encontrar vários e-mails de um tipo, ou aquela mensagem impossível de achar.</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6</a:t>
            </a:fld>
            <a:endParaRPr lang="pt-BR"/>
          </a:p>
        </p:txBody>
      </p:sp>
    </p:spTree>
    <p:extLst>
      <p:ext uri="{BB962C8B-B14F-4D97-AF65-F5344CB8AC3E}">
        <p14:creationId xmlns:p14="http://schemas.microsoft.com/office/powerpoint/2010/main" val="1175683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Danilo</a:t>
            </a:r>
          </a:p>
          <a:p>
            <a:r>
              <a:rPr lang="pt-BR" dirty="0"/>
              <a:t>Caso você tenha arquivos grandes demais para mandar em uma única mensagem, você pode anexar links do Google Drive como arquivos no seu e-mail.</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7</a:t>
            </a:fld>
            <a:endParaRPr lang="pt-BR"/>
          </a:p>
        </p:txBody>
      </p:sp>
    </p:spTree>
    <p:extLst>
      <p:ext uri="{BB962C8B-B14F-4D97-AF65-F5344CB8AC3E}">
        <p14:creationId xmlns:p14="http://schemas.microsoft.com/office/powerpoint/2010/main" val="2618120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Danilo</a:t>
            </a:r>
          </a:p>
          <a:p>
            <a:r>
              <a:rPr lang="pt-BR" dirty="0"/>
              <a:t>Ausente da versão clássica, agora o Gmail tem o infame botão direito. Com ele você pode marcar um e-mail como não lido, arquivá-lo ou deletar uma mensagem.</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8</a:t>
            </a:fld>
            <a:endParaRPr lang="pt-BR"/>
          </a:p>
        </p:txBody>
      </p:sp>
    </p:spTree>
    <p:extLst>
      <p:ext uri="{BB962C8B-B14F-4D97-AF65-F5344CB8AC3E}">
        <p14:creationId xmlns:p14="http://schemas.microsoft.com/office/powerpoint/2010/main" val="4187313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Henry</a:t>
            </a:r>
          </a:p>
          <a:p>
            <a:r>
              <a:rPr lang="pt-BR" dirty="0"/>
              <a:t>Essa função te permite personalizar uma mensagem automatizada que é enviada como resposta aos seus e-mails durante um período de tempo específico, caso esteja de férias, por exemplo.</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9</a:t>
            </a:fld>
            <a:endParaRPr lang="pt-BR"/>
          </a:p>
        </p:txBody>
      </p:sp>
    </p:spTree>
    <p:extLst>
      <p:ext uri="{BB962C8B-B14F-4D97-AF65-F5344CB8AC3E}">
        <p14:creationId xmlns:p14="http://schemas.microsoft.com/office/powerpoint/2010/main" val="162870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Henry</a:t>
            </a:r>
          </a:p>
          <a:p>
            <a:r>
              <a:rPr lang="pt-BR" dirty="0"/>
              <a:t>Se você é bem gosta de se prevenir de hackers, essa opção vai ser útil. Basicamente, você pode configurar perguntas e respostas pessoais que só você sabe para recuperar sua conta caso ela seja hackeada.</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10</a:t>
            </a:fld>
            <a:endParaRPr lang="pt-BR"/>
          </a:p>
        </p:txBody>
      </p:sp>
    </p:spTree>
    <p:extLst>
      <p:ext uri="{BB962C8B-B14F-4D97-AF65-F5344CB8AC3E}">
        <p14:creationId xmlns:p14="http://schemas.microsoft.com/office/powerpoint/2010/main" val="2639489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Henry</a:t>
            </a:r>
          </a:p>
          <a:p>
            <a:r>
              <a:rPr lang="pt-BR" dirty="0"/>
              <a:t>Fim, obrigado pela atenção.</a:t>
            </a:r>
          </a:p>
        </p:txBody>
      </p:sp>
      <p:sp>
        <p:nvSpPr>
          <p:cNvPr id="4" name="Espaço Reservado para Número de Slide 3"/>
          <p:cNvSpPr>
            <a:spLocks noGrp="1"/>
          </p:cNvSpPr>
          <p:nvPr>
            <p:ph type="sldNum" sz="quarter" idx="5"/>
          </p:nvPr>
        </p:nvSpPr>
        <p:spPr/>
        <p:txBody>
          <a:bodyPr/>
          <a:lstStyle/>
          <a:p>
            <a:fld id="{CFEEEB12-B63C-4103-907A-B380091F3CC6}" type="slidenum">
              <a:rPr lang="pt-BR" smtClean="0"/>
              <a:t>11</a:t>
            </a:fld>
            <a:endParaRPr lang="pt-BR"/>
          </a:p>
        </p:txBody>
      </p:sp>
    </p:spTree>
    <p:extLst>
      <p:ext uri="{BB962C8B-B14F-4D97-AF65-F5344CB8AC3E}">
        <p14:creationId xmlns:p14="http://schemas.microsoft.com/office/powerpoint/2010/main" val="37327323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pt-BR"/>
              <a:t>Clique para editar o título mestre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smtClean="0"/>
              <a:t>4/5/2021</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073079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146942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pt-BR"/>
              <a:t>Clique para editar o título mestre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4/5/2021</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48317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52468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685800" y="3132666"/>
            <a:ext cx="5311775" cy="3086019"/>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6172200" y="3132666"/>
            <a:ext cx="5334000" cy="3086019"/>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42838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862328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31343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pt-BR"/>
              <a:t>Clique para editar o título mestre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212605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032064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956983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e Legenda">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4/5/2021</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19971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ção com Legenda">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pt-BR"/>
              <a:t>Clique para editar o título mestre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4/5/2021</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‹nº›</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36007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ão de Nome">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smtClean="0"/>
              <a:pPr/>
              <a:t>4/5/2021</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027533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3" name="Date Placeholder 2"/>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343233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3" name="Date Placeholder 2"/>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745222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125268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e texto verticais">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pt-BR"/>
              <a:t>Clique para editar o título mestre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smtClean="0"/>
              <a:pPr/>
              <a:t>4/5/2021</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53554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4/5/2021</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71237921"/>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2446987" y="1867436"/>
            <a:ext cx="7482626" cy="1354217"/>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16 Less Known Gmail Hacks That Will Super Boost Your Productivity</a:t>
            </a:r>
          </a:p>
          <a:p>
            <a:pPr algn="ctr"/>
            <a:endParaRPr lang="pt-BR" dirty="0"/>
          </a:p>
        </p:txBody>
      </p:sp>
      <p:sp>
        <p:nvSpPr>
          <p:cNvPr id="5" name="CaixaDeTexto 4"/>
          <p:cNvSpPr txBox="1"/>
          <p:nvPr/>
        </p:nvSpPr>
        <p:spPr>
          <a:xfrm>
            <a:off x="5054959" y="3174683"/>
            <a:ext cx="2266682" cy="461665"/>
          </a:xfrm>
          <a:prstGeom prst="rect">
            <a:avLst/>
          </a:prstGeom>
          <a:noFill/>
        </p:spPr>
        <p:txBody>
          <a:bodyPr wrap="square" rtlCol="0">
            <a:spAutoFit/>
          </a:bodyPr>
          <a:lstStyle/>
          <a:p>
            <a:r>
              <a:rPr lang="pt-BR" sz="2400" b="1" dirty="0" err="1">
                <a:latin typeface="Times New Roman" panose="02020603050405020304" pitchFamily="18" charset="0"/>
                <a:cs typeface="Times New Roman" panose="02020603050405020304" pitchFamily="18" charset="0"/>
              </a:rPr>
              <a:t>Part</a:t>
            </a:r>
            <a:r>
              <a:rPr lang="pt-BR" sz="2400" b="1" dirty="0">
                <a:latin typeface="Times New Roman" panose="02020603050405020304" pitchFamily="18" charset="0"/>
                <a:cs typeface="Times New Roman" panose="02020603050405020304" pitchFamily="18" charset="0"/>
              </a:rPr>
              <a:t> 8 to 16</a:t>
            </a:r>
          </a:p>
        </p:txBody>
      </p:sp>
      <p:sp>
        <p:nvSpPr>
          <p:cNvPr id="2" name="CaixaDeTexto 1"/>
          <p:cNvSpPr txBox="1"/>
          <p:nvPr/>
        </p:nvSpPr>
        <p:spPr>
          <a:xfrm>
            <a:off x="3697065" y="4116378"/>
            <a:ext cx="4546242" cy="1723549"/>
          </a:xfrm>
          <a:prstGeom prst="rect">
            <a:avLst/>
          </a:prstGeom>
          <a:noFill/>
        </p:spPr>
        <p:txBody>
          <a:bodyPr wrap="square" rtlCol="0">
            <a:spAutoFit/>
          </a:bodyPr>
          <a:lstStyle/>
          <a:p>
            <a:pPr lvl="0" algn="ctr"/>
            <a:r>
              <a:rPr lang="pt-BR" altLang="pt-BR" sz="1600" dirty="0" err="1">
                <a:latin typeface="Times New Roman" panose="02020603050405020304" pitchFamily="18" charset="0"/>
                <a:cs typeface="Times New Roman" panose="02020603050405020304" pitchFamily="18" charset="0"/>
              </a:rPr>
              <a:t>Group</a:t>
            </a:r>
            <a:r>
              <a:rPr lang="pt-BR" altLang="pt-BR" sz="1600" dirty="0">
                <a:latin typeface="Times New Roman" panose="02020603050405020304" pitchFamily="18" charset="0"/>
                <a:cs typeface="Times New Roman" panose="02020603050405020304" pitchFamily="18" charset="0"/>
              </a:rPr>
              <a:t> members:</a:t>
            </a:r>
            <a:br>
              <a:rPr lang="pt-BR" altLang="pt-BR" sz="1600" dirty="0">
                <a:latin typeface="Times New Roman" panose="02020603050405020304" pitchFamily="18" charset="0"/>
                <a:cs typeface="Times New Roman" panose="02020603050405020304" pitchFamily="18" charset="0"/>
              </a:rPr>
            </a:br>
            <a:r>
              <a:rPr lang="pt-BR" altLang="pt-BR" sz="1600" dirty="0">
                <a:latin typeface="Times New Roman" panose="02020603050405020304" pitchFamily="18" charset="0"/>
                <a:cs typeface="Times New Roman" panose="02020603050405020304" pitchFamily="18" charset="0"/>
              </a:rPr>
              <a:t> Henri Akira,</a:t>
            </a:r>
            <a:br>
              <a:rPr lang="pt-BR" altLang="pt-BR" sz="1600" dirty="0">
                <a:latin typeface="Times New Roman" panose="02020603050405020304" pitchFamily="18" charset="0"/>
                <a:cs typeface="Times New Roman" panose="02020603050405020304" pitchFamily="18" charset="0"/>
              </a:rPr>
            </a:br>
            <a:r>
              <a:rPr lang="pt-BR" altLang="pt-BR" sz="1600" dirty="0">
                <a:latin typeface="Times New Roman" panose="02020603050405020304" pitchFamily="18" charset="0"/>
                <a:cs typeface="Times New Roman" panose="02020603050405020304" pitchFamily="18" charset="0"/>
              </a:rPr>
              <a:t> Rafael Sgurscow,</a:t>
            </a:r>
            <a:br>
              <a:rPr lang="pt-BR" altLang="pt-BR" sz="1600" dirty="0">
                <a:latin typeface="Times New Roman" panose="02020603050405020304" pitchFamily="18" charset="0"/>
                <a:cs typeface="Times New Roman" panose="02020603050405020304" pitchFamily="18" charset="0"/>
              </a:rPr>
            </a:br>
            <a:r>
              <a:rPr lang="pt-BR" altLang="pt-BR" sz="1600" dirty="0">
                <a:latin typeface="Times New Roman" panose="02020603050405020304" pitchFamily="18" charset="0"/>
                <a:cs typeface="Times New Roman" panose="02020603050405020304" pitchFamily="18" charset="0"/>
              </a:rPr>
              <a:t>Caio Thome,</a:t>
            </a:r>
            <a:br>
              <a:rPr lang="pt-BR" altLang="pt-BR" sz="1600" dirty="0">
                <a:latin typeface="Times New Roman" panose="02020603050405020304" pitchFamily="18" charset="0"/>
                <a:cs typeface="Times New Roman" panose="02020603050405020304" pitchFamily="18" charset="0"/>
              </a:rPr>
            </a:br>
            <a:r>
              <a:rPr lang="pt-BR" altLang="pt-BR" sz="1600" dirty="0">
                <a:latin typeface="Times New Roman" panose="02020603050405020304" pitchFamily="18" charset="0"/>
                <a:cs typeface="Times New Roman" panose="02020603050405020304" pitchFamily="18" charset="0"/>
              </a:rPr>
              <a:t> Diogo de Azevedo,  </a:t>
            </a:r>
            <a:br>
              <a:rPr lang="pt-BR" altLang="pt-BR" sz="1600" dirty="0">
                <a:latin typeface="Times New Roman" panose="02020603050405020304" pitchFamily="18" charset="0"/>
                <a:cs typeface="Times New Roman" panose="02020603050405020304" pitchFamily="18" charset="0"/>
              </a:rPr>
            </a:br>
            <a:r>
              <a:rPr lang="pt-BR" altLang="pt-BR" sz="1600" dirty="0">
                <a:latin typeface="Times New Roman" panose="02020603050405020304" pitchFamily="18" charset="0"/>
                <a:cs typeface="Times New Roman" panose="02020603050405020304" pitchFamily="18" charset="0"/>
              </a:rPr>
              <a:t>Danilo Mancini</a:t>
            </a:r>
          </a:p>
          <a:p>
            <a:endParaRPr lang="pt-BR" sz="1000" dirty="0"/>
          </a:p>
        </p:txBody>
      </p:sp>
    </p:spTree>
    <p:extLst>
      <p:ext uri="{BB962C8B-B14F-4D97-AF65-F5344CB8AC3E}">
        <p14:creationId xmlns:p14="http://schemas.microsoft.com/office/powerpoint/2010/main" val="3819190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down)">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476518" y="592429"/>
            <a:ext cx="11269014" cy="310854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8. Reply All</a:t>
            </a:r>
          </a:p>
          <a:p>
            <a:r>
              <a:rPr lang="en-US" sz="2000" dirty="0">
                <a:latin typeface="Times New Roman" panose="02020603050405020304" pitchFamily="18" charset="0"/>
                <a:cs typeface="Times New Roman" panose="02020603050405020304" pitchFamily="18" charset="0"/>
              </a:rPr>
              <a:t>Occasionally, we forget to select the “Reply All” option while sending a response to multiple recipients.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However, Gmail has come up with a solution to this problem. Just click on the settings tab and go to the general tab. Scroll down to the “Default Reply Behaviour” and select the Reply all option.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Now the “Reply All” option will always be the default option selected when conversing with multiple recipients.</a:t>
            </a:r>
          </a:p>
          <a:p>
            <a:br>
              <a:rPr lang="en-US" dirty="0"/>
            </a:br>
            <a:endParaRPr lang="pt-BR" dirty="0"/>
          </a:p>
        </p:txBody>
      </p:sp>
      <p:pic>
        <p:nvPicPr>
          <p:cNvPr id="2050" name="Picture 2" descr="https://cdn.lifehack.org/wp-content/uploads/2019/01/Reply-al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490" y="3279897"/>
            <a:ext cx="10264462" cy="3404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133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050"/>
                                        </p:tgtEl>
                                        <p:attrNameLst>
                                          <p:attrName>style.visibility</p:attrName>
                                        </p:attrNameLst>
                                      </p:cBhvr>
                                      <p:to>
                                        <p:strVal val="visible"/>
                                      </p:to>
                                    </p:set>
                                    <p:animEffect transition="in" filter="barn(inVertical)">
                                      <p:cBhvr>
                                        <p:cTn id="21"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69701" y="605307"/>
            <a:ext cx="11050074" cy="2831544"/>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9. Showing Maximum Emails per Page</a:t>
            </a:r>
          </a:p>
          <a:p>
            <a:r>
              <a:rPr lang="en-US" sz="2000" dirty="0">
                <a:latin typeface="Times New Roman" panose="02020603050405020304" pitchFamily="18" charset="0"/>
                <a:cs typeface="Times New Roman" panose="02020603050405020304" pitchFamily="18" charset="0"/>
              </a:rPr>
              <a:t>If you are receiving too many e-mails in a day, then you should definitely explore this option.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It gives you the ability to access more conversations per page. To achieve this, go to settings, click on the General menu bar and scroll down to “ Maximum page size”.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Thereafter set the number of conversions you want per page. For reference, check the screenshot given below:</a:t>
            </a:r>
          </a:p>
          <a:p>
            <a:endParaRPr lang="pt-BR" dirty="0"/>
          </a:p>
        </p:txBody>
      </p:sp>
      <p:pic>
        <p:nvPicPr>
          <p:cNvPr id="3074" name="Picture 2" descr="https://cdn.lifehack.org/wp-content/uploads/2019/01/Showing-maximum-number-of-conversion-per-pag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554" y="3144740"/>
            <a:ext cx="9530367" cy="3497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89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074"/>
                                        </p:tgtEl>
                                        <p:attrNameLst>
                                          <p:attrName>style.visibility</p:attrName>
                                        </p:attrNameLst>
                                      </p:cBhvr>
                                      <p:to>
                                        <p:strVal val="visible"/>
                                      </p:to>
                                    </p:set>
                                    <p:animEffect transition="in" filter="barn(inVertical)">
                                      <p:cBhvr>
                                        <p:cTn id="21"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708336" y="573247"/>
            <a:ext cx="11011437" cy="2215991"/>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10. Conversation View</a:t>
            </a:r>
          </a:p>
          <a:p>
            <a:r>
              <a:rPr lang="en-US" sz="2000" dirty="0">
                <a:latin typeface="Times New Roman" panose="02020603050405020304" pitchFamily="18" charset="0"/>
                <a:cs typeface="Times New Roman" panose="02020603050405020304" pitchFamily="18" charset="0"/>
              </a:rPr>
              <a:t>If you are a fan of the classic Gmail, this is a handy hack.</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avoid a “thread” view in favor of the old conversation view – just follow these steps. Go to the General menu in the setting tab and simply scroll down to the “Conversion View” and select the option “conversion view off”. Refer to the screen capture underneath.</a:t>
            </a:r>
          </a:p>
          <a:p>
            <a:endParaRPr lang="pt-BR" dirty="0"/>
          </a:p>
        </p:txBody>
      </p:sp>
      <p:pic>
        <p:nvPicPr>
          <p:cNvPr id="4098" name="Picture 2" descr="https://cdn.lifehack.org/wp-content/uploads/2019/01/Conversion-vie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6793" y="2789238"/>
            <a:ext cx="9534525" cy="372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34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4098"/>
                                        </p:tgtEl>
                                        <p:attrNameLst>
                                          <p:attrName>style.visibility</p:attrName>
                                        </p:attrNameLst>
                                      </p:cBhvr>
                                      <p:to>
                                        <p:strVal val="visible"/>
                                      </p:to>
                                    </p:set>
                                    <p:animEffect transition="in" filter="barn(inVertical)">
                                      <p:cBhvr>
                                        <p:cTn id="18"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82580" y="669702"/>
            <a:ext cx="10972800" cy="160043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11. Desktop Notification</a:t>
            </a:r>
          </a:p>
          <a:p>
            <a:r>
              <a:rPr lang="en-US" sz="2000" dirty="0">
                <a:latin typeface="Times New Roman" panose="02020603050405020304" pitchFamily="18" charset="0"/>
                <a:cs typeface="Times New Roman" panose="02020603050405020304" pitchFamily="18" charset="0"/>
              </a:rPr>
              <a:t>If you live off your e-mails, then this is a great option. You can simply add a chrome extension of Gmail or go to Settings &gt; General &gt; Desktop Notification and turn it on. It is also extremely helpful if you have set up email alerts for critical functions . The screenshot shared below will help you get it set up.</a:t>
            </a:r>
          </a:p>
          <a:p>
            <a:endParaRPr lang="pt-BR" dirty="0"/>
          </a:p>
        </p:txBody>
      </p:sp>
      <p:pic>
        <p:nvPicPr>
          <p:cNvPr id="5122" name="Picture 2" descr="https://cdn.lifehack.org/wp-content/uploads/2019/01/Desktop-notific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80" y="2618976"/>
            <a:ext cx="10972800" cy="3733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20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animEffect transition="in" filter="barn(inVertical)">
                                      <p:cBhvr>
                                        <p:cTn id="15"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399246" y="914400"/>
            <a:ext cx="4572000" cy="4678204"/>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12. Advanced Search</a:t>
            </a:r>
          </a:p>
          <a:p>
            <a:r>
              <a:rPr lang="en-US" sz="2000" dirty="0">
                <a:latin typeface="Times New Roman" panose="02020603050405020304" pitchFamily="18" charset="0"/>
                <a:cs typeface="Times New Roman" panose="02020603050405020304" pitchFamily="18" charset="0"/>
              </a:rPr>
              <a:t>This is arguably one of the best features.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You probably would be using the regular search feature for your Gmail. However, with the sheer amount of emails in the inbox, it is difficult to find specific information. This is where advanced search comes in.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Using this feature you can search a specific message among hundreds of e-mails in your inbox by applying useful filters.</a:t>
            </a:r>
          </a:p>
          <a:p>
            <a:endParaRPr lang="pt-BR" dirty="0"/>
          </a:p>
        </p:txBody>
      </p:sp>
      <p:pic>
        <p:nvPicPr>
          <p:cNvPr id="6146" name="Picture 2" descr="https://cdn.lifehack.org/wp-content/uploads/2019/01/Advanced-searc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1246" y="986552"/>
            <a:ext cx="6772275" cy="453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82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146"/>
                                        </p:tgtEl>
                                        <p:attrNameLst>
                                          <p:attrName>style.visibility</p:attrName>
                                        </p:attrNameLst>
                                      </p:cBhvr>
                                      <p:to>
                                        <p:strVal val="visible"/>
                                      </p:to>
                                    </p:set>
                                    <p:animEffect transition="in" filter="barn(inVertical)">
                                      <p:cBhvr>
                                        <p:cTn id="21"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115631" y="504124"/>
            <a:ext cx="5361905" cy="2862322"/>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13. Insert Google Drive Files</a:t>
            </a:r>
          </a:p>
          <a:p>
            <a:r>
              <a:rPr lang="en-US" sz="2000" dirty="0">
                <a:latin typeface="Times New Roman" panose="02020603050405020304" pitchFamily="18" charset="0"/>
                <a:cs typeface="Times New Roman" panose="02020603050405020304" pitchFamily="18" charset="0"/>
              </a:rPr>
              <a:t>Need to send a large file? Not a problem with Gmail’s new integration feature. You can insert Google drive files as attachments to your mail.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Simply click on the Google drive icon on the lowermost portion of the window. It will convert your file as a link or an attachment as shown below:</a:t>
            </a:r>
            <a:endParaRPr lang="en-US" sz="2000" b="0" i="0" dirty="0">
              <a:effectLst/>
              <a:latin typeface="Times New Roman" panose="02020603050405020304" pitchFamily="18" charset="0"/>
              <a:cs typeface="Times New Roman" panose="02020603050405020304" pitchFamily="18" charset="0"/>
            </a:endParaRPr>
          </a:p>
        </p:txBody>
      </p:sp>
      <p:pic>
        <p:nvPicPr>
          <p:cNvPr id="7170" name="Picture 2" descr="https://cdn.lifehack.org/wp-content/uploads/2019/01/Insert-google-drive-fil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7536" y="2757927"/>
            <a:ext cx="6456886" cy="3606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152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7170"/>
                                        </p:tgtEl>
                                        <p:attrNameLst>
                                          <p:attrName>style.visibility</p:attrName>
                                        </p:attrNameLst>
                                      </p:cBhvr>
                                      <p:to>
                                        <p:strVal val="visible"/>
                                      </p:to>
                                    </p:set>
                                    <p:animEffect transition="in" filter="barn(inVertical)">
                                      <p:cBhvr>
                                        <p:cTn id="18"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18693" y="2445108"/>
            <a:ext cx="10354614" cy="160043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14. Right Click Menu</a:t>
            </a:r>
          </a:p>
          <a:p>
            <a:r>
              <a:rPr lang="en-US" sz="2000" dirty="0">
                <a:latin typeface="Times New Roman" panose="02020603050405020304" pitchFamily="18" charset="0"/>
                <a:cs typeface="Times New Roman" panose="02020603050405020304" pitchFamily="18" charset="0"/>
              </a:rPr>
              <a:t>Previously absent from the classic feature, the good old right click is here. Now if you right click on your e-mails, you can get the option to mark it Unread, Archive, or remove a message. All at a click of a button, straight from your Inbox page.</a:t>
            </a:r>
          </a:p>
          <a:p>
            <a:endParaRPr lang="pt-BR" dirty="0"/>
          </a:p>
        </p:txBody>
      </p:sp>
    </p:spTree>
    <p:extLst>
      <p:ext uri="{BB962C8B-B14F-4D97-AF65-F5344CB8AC3E}">
        <p14:creationId xmlns:p14="http://schemas.microsoft.com/office/powerpoint/2010/main" val="310075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837127" y="695459"/>
            <a:ext cx="10740980" cy="249299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15. Reply Automation</a:t>
            </a:r>
          </a:p>
          <a:p>
            <a:r>
              <a:rPr lang="en-US" sz="2000" dirty="0">
                <a:latin typeface="Times New Roman" panose="02020603050405020304" pitchFamily="18" charset="0"/>
                <a:cs typeface="Times New Roman" panose="02020603050405020304" pitchFamily="18" charset="0"/>
              </a:rPr>
              <a:t>On leave? Don’t have time to reply to all the email you get? Head to the auto-responder option in Gmail.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You can customize what message you want to send out to people. To activate it, simply go to settings, click on general tab and scroll down to the vacation responder.</a:t>
            </a:r>
          </a:p>
          <a:p>
            <a:br>
              <a:rPr lang="en-US" dirty="0"/>
            </a:br>
            <a:endParaRPr lang="pt-BR" dirty="0"/>
          </a:p>
        </p:txBody>
      </p:sp>
      <p:pic>
        <p:nvPicPr>
          <p:cNvPr id="8194" name="Picture 2" descr="https://cdn.lifehack.org/wp-content/uploads/2019/01/Vacation-Respon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127" y="3188449"/>
            <a:ext cx="10601436" cy="3210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28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8194"/>
                                        </p:tgtEl>
                                        <p:attrNameLst>
                                          <p:attrName>style.visibility</p:attrName>
                                        </p:attrNameLst>
                                      </p:cBhvr>
                                      <p:to>
                                        <p:strVal val="visible"/>
                                      </p:to>
                                    </p:set>
                                    <p:animEffect transition="in" filter="barn(inVertical)">
                                      <p:cBhvr>
                                        <p:cTn id="18"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53792" y="425003"/>
            <a:ext cx="10985679" cy="3139321"/>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16. Account Recovery</a:t>
            </a:r>
          </a:p>
          <a:p>
            <a:r>
              <a:rPr lang="en-US" sz="2000" dirty="0">
                <a:latin typeface="Times New Roman" panose="02020603050405020304" pitchFamily="18" charset="0"/>
                <a:cs typeface="Times New Roman" panose="02020603050405020304" pitchFamily="18" charset="0"/>
              </a:rPr>
              <a:t>I get at least one spam email trying to hack into my account. So for security purposes, do update your account recovery options. This will be helpful when you are unable to remember your password or have been hacked.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It is just a series of questions you need to set up while opening the account (or update later 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Additional tip: You’d need to remember the answers. So choose something you have negligible chance of forgetting or getting wrong.</a:t>
            </a:r>
          </a:p>
          <a:p>
            <a:endParaRPr lang="pt-BR" dirty="0"/>
          </a:p>
        </p:txBody>
      </p:sp>
    </p:spTree>
    <p:extLst>
      <p:ext uri="{BB962C8B-B14F-4D97-AF65-F5344CB8AC3E}">
        <p14:creationId xmlns:p14="http://schemas.microsoft.com/office/powerpoint/2010/main" val="264057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2472743" y="2485623"/>
            <a:ext cx="7044744" cy="1785104"/>
          </a:xfrm>
          <a:prstGeom prst="rect">
            <a:avLst/>
          </a:prstGeom>
          <a:noFill/>
        </p:spPr>
        <p:txBody>
          <a:bodyPr wrap="square" rtlCol="0">
            <a:spAutoFit/>
          </a:bodyPr>
          <a:lstStyle/>
          <a:p>
            <a:pPr algn="ctr"/>
            <a:r>
              <a:rPr lang="pt-BR" sz="9600" dirty="0">
                <a:latin typeface="04b" panose="00000400000000000000" pitchFamily="2" charset="0"/>
                <a:cs typeface="Times New Roman" panose="02020603050405020304" pitchFamily="18" charset="0"/>
              </a:rPr>
              <a:t>FIM</a:t>
            </a:r>
          </a:p>
          <a:p>
            <a:pPr algn="ctr"/>
            <a:r>
              <a:rPr lang="pt-BR" sz="1400" dirty="0">
                <a:latin typeface="04b" panose="00000400000000000000" pitchFamily="2" charset="0"/>
                <a:cs typeface="Times New Roman" panose="02020603050405020304" pitchFamily="18" charset="0"/>
              </a:rPr>
              <a:t>Obrigado pela atenção</a:t>
            </a:r>
          </a:p>
        </p:txBody>
      </p:sp>
    </p:spTree>
    <p:extLst>
      <p:ext uri="{BB962C8B-B14F-4D97-AF65-F5344CB8AC3E}">
        <p14:creationId xmlns:p14="http://schemas.microsoft.com/office/powerpoint/2010/main" val="211070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1000"/>
                                        <p:tgtEl>
                                          <p:spTgt spid="6">
                                            <p:txEl>
                                              <p:pRg st="1" end="1"/>
                                            </p:txEl>
                                          </p:spTgt>
                                        </p:tgtEl>
                                      </p:cBhvr>
                                    </p:animEffect>
                                    <p:anim calcmode="lin" valueType="num">
                                      <p:cBhvr>
                                        <p:cTn id="14"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rilha de Vapor">
  <a:themeElements>
    <a:clrScheme name="Trilha de Vapor">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Trilha de Vapor">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ilha de Vapor">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TM04033937[[fn=Trilha de Vapor]]</Template>
  <TotalTime>504</TotalTime>
  <Words>1067</Words>
  <Application>Microsoft Office PowerPoint</Application>
  <PresentationFormat>Widescreen</PresentationFormat>
  <Paragraphs>80</Paragraphs>
  <Slides>11</Slides>
  <Notes>11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11</vt:i4>
      </vt:variant>
    </vt:vector>
  </HeadingPairs>
  <TitlesOfParts>
    <vt:vector size="17" baseType="lpstr">
      <vt:lpstr>04b</vt:lpstr>
      <vt:lpstr>Arial</vt:lpstr>
      <vt:lpstr>Calibri</vt:lpstr>
      <vt:lpstr>Century Gothic</vt:lpstr>
      <vt:lpstr>Times New Roman</vt:lpstr>
      <vt:lpstr>Trilha de Vapor</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Sueli</dc:creator>
  <cp:lastModifiedBy>DANILO MANCINI QUEIROZ DE SOUSA</cp:lastModifiedBy>
  <cp:revision>13</cp:revision>
  <dcterms:created xsi:type="dcterms:W3CDTF">2021-04-05T00:11:51Z</dcterms:created>
  <dcterms:modified xsi:type="dcterms:W3CDTF">2021-04-05T11:04:14Z</dcterms:modified>
</cp:coreProperties>
</file>